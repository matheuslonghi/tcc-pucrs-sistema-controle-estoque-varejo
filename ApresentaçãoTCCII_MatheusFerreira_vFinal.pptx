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C842A8-5142-8A55-CEF8-9B7D41A985F7}" v="100" dt="2025-12-10T05:15:18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6B987ADE-BCB5-4B74-A618-1A3F7BA174B8}"/>
              </a:ext>
            </a:extLst>
          </p:cNvPr>
          <p:cNvSpPr>
            <a:spLocks noGrp="1"/>
          </p:cNvSpPr>
          <p:nvPr/>
        </p:nvSpPr>
        <p:spPr>
          <a:xfrm>
            <a:off x="330310" y="405651"/>
            <a:ext cx="11524617" cy="151034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8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PONTIFÍCIA UNIVERSIDADE CATÓLICA DO RIO GRANDE DO SUL</a:t>
            </a:r>
            <a:br>
              <a:rPr lang="pt-BR" sz="28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</a:br>
            <a:r>
              <a:rPr lang="pt-BR" sz="28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ESCOLA POLITÉCNICA</a:t>
            </a:r>
            <a:br>
              <a:rPr lang="pt-BR" sz="28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</a:br>
            <a:r>
              <a:rPr lang="pt-BR" sz="28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BACHARELADO EM SISTEMAS DE INFORMAÇÃO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463D3B3-14CB-4EF8-B4E9-9437EF9340E7}"/>
              </a:ext>
            </a:extLst>
          </p:cNvPr>
          <p:cNvSpPr>
            <a:spLocks noGrp="1"/>
          </p:cNvSpPr>
          <p:nvPr/>
        </p:nvSpPr>
        <p:spPr>
          <a:xfrm>
            <a:off x="414508" y="4463475"/>
            <a:ext cx="6579574" cy="160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>
                <a:latin typeface="Arial"/>
                <a:cs typeface="Arial"/>
              </a:rPr>
              <a:t>Ferramenta para auxílio de estoque e vendas para lojas de varejo 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2953401B-1F3C-4859-8F23-07C4EFB88B7E}"/>
              </a:ext>
            </a:extLst>
          </p:cNvPr>
          <p:cNvSpPr txBox="1">
            <a:spLocks/>
          </p:cNvSpPr>
          <p:nvPr/>
        </p:nvSpPr>
        <p:spPr>
          <a:xfrm>
            <a:off x="413922" y="3429000"/>
            <a:ext cx="4465739" cy="4395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Matheus Longhi Ferreira </a:t>
            </a:r>
            <a:endParaRPr lang="pt-BR" sz="2400" b="1">
              <a:solidFill>
                <a:schemeClr val="bg1">
                  <a:lumMod val="6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AEFF6BA1-6BFD-48FB-8130-B8D123F6095F}"/>
              </a:ext>
            </a:extLst>
          </p:cNvPr>
          <p:cNvSpPr txBox="1">
            <a:spLocks/>
          </p:cNvSpPr>
          <p:nvPr/>
        </p:nvSpPr>
        <p:spPr>
          <a:xfrm>
            <a:off x="424153" y="3868566"/>
            <a:ext cx="5959870" cy="4395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Orientador: Afonso Henrique Corrêa de Sales </a:t>
            </a:r>
            <a:endParaRPr lang="pt-BR" sz="2400" b="1">
              <a:solidFill>
                <a:schemeClr val="bg1">
                  <a:lumMod val="6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324A33A-1ACC-4A11-A3F0-A98B89929B84}"/>
              </a:ext>
            </a:extLst>
          </p:cNvPr>
          <p:cNvSpPr txBox="1">
            <a:spLocks/>
          </p:cNvSpPr>
          <p:nvPr/>
        </p:nvSpPr>
        <p:spPr>
          <a:xfrm>
            <a:off x="4644498" y="1917483"/>
            <a:ext cx="2912648" cy="6362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800" b="1">
                <a:solidFill>
                  <a:schemeClr val="tx1">
                    <a:lumMod val="49000"/>
                    <a:lumOff val="51000"/>
                  </a:schemeClr>
                </a:solidFill>
                <a:latin typeface="Arial"/>
                <a:cs typeface="Arial"/>
              </a:rPr>
              <a:t>Porto Alegre - 2025</a:t>
            </a:r>
            <a:endParaRPr lang="pt-BR" sz="3200" b="1">
              <a:solidFill>
                <a:schemeClr val="tx1">
                  <a:lumMod val="49000"/>
                  <a:lumOff val="51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C3ED91-47BE-08AA-EC05-11BC20C38D75}"/>
              </a:ext>
            </a:extLst>
          </p:cNvPr>
          <p:cNvSpPr txBox="1"/>
          <p:nvPr/>
        </p:nvSpPr>
        <p:spPr>
          <a:xfrm>
            <a:off x="1140135" y="2461996"/>
            <a:ext cx="990021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lt"/>
                <a:cs typeface="+mn-lt"/>
              </a:rPr>
              <a:t>Este trabalho apresenta um sistema simples desenvolvido visando a gestão de estoque e vendas voltado a pequenos estabelecimentos varejistas. A ideia foi criar uma solução prática e intuitiva que facilitasse o controle de produtos, compras, vendas e relatórios, ajudando na organização e na tomada de decisões.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A3284-E6CC-7555-C9E3-3EF6F67EC373}"/>
              </a:ext>
            </a:extLst>
          </p:cNvPr>
          <p:cNvSpPr txBox="1"/>
          <p:nvPr/>
        </p:nvSpPr>
        <p:spPr>
          <a:xfrm>
            <a:off x="1142791" y="1339476"/>
            <a:ext cx="218375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Introdução</a:t>
            </a:r>
            <a:endParaRPr lang="en-US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603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87CD42-4A12-6016-44F7-BBF11F686607}"/>
              </a:ext>
            </a:extLst>
          </p:cNvPr>
          <p:cNvSpPr txBox="1"/>
          <p:nvPr/>
        </p:nvSpPr>
        <p:spPr>
          <a:xfrm>
            <a:off x="546022" y="322078"/>
            <a:ext cx="48929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Sistemas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Similares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 -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ConnectPlug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AD85E-9E88-AB76-3EAD-00FB205AE1B2}"/>
              </a:ext>
            </a:extLst>
          </p:cNvPr>
          <p:cNvSpPr txBox="1"/>
          <p:nvPr/>
        </p:nvSpPr>
        <p:spPr>
          <a:xfrm>
            <a:off x="548121" y="923458"/>
            <a:ext cx="1096122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O </a:t>
            </a:r>
            <a:r>
              <a:rPr lang="pt-BR" dirty="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ConnectPlug</a:t>
            </a:r>
            <a:r>
              <a:rPr lang="pt-BR" dirty="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é uma plataforma popular no varejo, com controle de estoque em tempo real, emissão de notas e relatórios úteis para gestão. Funciona na nuvem, é acessível e acompanha o crescimento do negócio.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latin typeface="Arial"/>
              <a:ea typeface="+mn-lt"/>
              <a:cs typeface="+mn-lt"/>
            </a:endParaRPr>
          </a:p>
        </p:txBody>
      </p:sp>
      <p:pic>
        <p:nvPicPr>
          <p:cNvPr id="6" name="Picture 5" descr="A group of electronic devices&#10;&#10;AI-generated content may be incorrect.">
            <a:extLst>
              <a:ext uri="{FF2B5EF4-FFF2-40B4-BE49-F238E27FC236}">
                <a16:creationId xmlns:a16="http://schemas.microsoft.com/office/drawing/2014/main" id="{A9702D7B-978C-83AF-AE8F-80D39F7D8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022" y="2352545"/>
            <a:ext cx="5213958" cy="33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39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186965-2410-D384-B1E3-6954CA454ACF}"/>
              </a:ext>
            </a:extLst>
          </p:cNvPr>
          <p:cNvSpPr txBox="1"/>
          <p:nvPr/>
        </p:nvSpPr>
        <p:spPr>
          <a:xfrm>
            <a:off x="546022" y="322078"/>
            <a:ext cx="48929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Sistemas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Similares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 - VHSYS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CB185E-2184-31B2-089E-C8EE59F4F80A}"/>
              </a:ext>
            </a:extLst>
          </p:cNvPr>
          <p:cNvSpPr txBox="1"/>
          <p:nvPr/>
        </p:nvSpPr>
        <p:spPr>
          <a:xfrm>
            <a:off x="548121" y="923458"/>
            <a:ext cx="1096122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O VHSYS é um sistema online usado por pequenos e médios varejistas. Ele controla estoque, emite notas fiscais, integra pagamentos e oferece recursos de CRM. Também permite acesso remoto e gera relatórios que ajudam na análise do negócio.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latin typeface="Arial"/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436B14-5254-3762-A3E5-665016D41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404" y="2509234"/>
            <a:ext cx="4842076" cy="304522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AE19E8-BA32-AE46-614F-35638E602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857" y="2512791"/>
            <a:ext cx="4834360" cy="305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93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B4FAD1-8BE1-7697-3A15-FBCD1F2EB5F7}"/>
              </a:ext>
            </a:extLst>
          </p:cNvPr>
          <p:cNvSpPr txBox="1"/>
          <p:nvPr/>
        </p:nvSpPr>
        <p:spPr>
          <a:xfrm>
            <a:off x="546022" y="322078"/>
            <a:ext cx="300362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Tecnologia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Utilizada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A3B53-012D-37C0-3C22-FD4D0260041A}"/>
              </a:ext>
            </a:extLst>
          </p:cNvPr>
          <p:cNvSpPr txBox="1"/>
          <p:nvPr/>
        </p:nvSpPr>
        <p:spPr>
          <a:xfrm>
            <a:off x="548121" y="923458"/>
            <a:ext cx="1096122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A escolha pelo </a:t>
            </a:r>
            <a:r>
              <a:rPr lang="pt-BR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OpenEdge</a:t>
            </a:r>
            <a:r>
              <a:rPr lang="pt-BR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pt-BR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Progress</a:t>
            </a:r>
            <a:r>
              <a:rPr lang="pt-BR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4GL se deu pela sua alta produtividade na criação de interfaces gráficas e pela integração direta com o banco de dados. Esses recursos permitiram acelerar o desenvolvimento e compensar as limitações de tempo e de estrutura do projeto.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D0CDB1-BA30-76E2-82C3-95315B2A047C}"/>
              </a:ext>
            </a:extLst>
          </p:cNvPr>
          <p:cNvSpPr txBox="1"/>
          <p:nvPr/>
        </p:nvSpPr>
        <p:spPr>
          <a:xfrm>
            <a:off x="6709123" y="3434801"/>
            <a:ext cx="4797703" cy="2646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Tecnologia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antiga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e com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menor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disponibilidade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de material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moderno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endParaRPr lang="en-US" sz="1600">
              <a:solidFill>
                <a:schemeClr val="tx1">
                  <a:lumMod val="76000"/>
                  <a:lumOff val="24000"/>
                </a:scheme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Wingdings"/>
              <a:buChar char="q"/>
            </a:pP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Interface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gráfica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limitada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e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desatualizada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para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padrões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modernos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.</a:t>
            </a:r>
          </a:p>
          <a:p>
            <a:endParaRPr lang="en-US" sz="1600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q"/>
            </a:pP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Dependência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do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ecossistema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Progress.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D77DD-300B-52FC-65DA-A03C5C6023D5}"/>
              </a:ext>
            </a:extLst>
          </p:cNvPr>
          <p:cNvSpPr txBox="1"/>
          <p:nvPr/>
        </p:nvSpPr>
        <p:spPr>
          <a:xfrm>
            <a:off x="550776" y="3433543"/>
            <a:ext cx="478805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Desenvolvimento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rápido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graças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à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linguagem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4GL.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endParaRPr lang="en-US" sz="1600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q"/>
            </a:pP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Integração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nativa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e simples com o banco Progress.</a:t>
            </a:r>
          </a:p>
          <a:p>
            <a:endParaRPr lang="en-US" sz="1600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q"/>
            </a:pP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Facilidade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na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criação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de interfaces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gráficas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.</a:t>
            </a:r>
          </a:p>
          <a:p>
            <a:endParaRPr lang="en-US" sz="1600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q"/>
            </a:pP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Menos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código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para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realizar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operações</a:t>
            </a:r>
            <a:r>
              <a:rPr lang="en-US" sz="1600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CRUD.</a:t>
            </a:r>
            <a:endParaRPr lang="en-US" sz="1600">
              <a:solidFill>
                <a:schemeClr val="tx1">
                  <a:lumMod val="76000"/>
                  <a:lumOff val="24000"/>
                </a:schemeClr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3A635-EEB0-B992-EF3C-7E627B35ADF5}"/>
              </a:ext>
            </a:extLst>
          </p:cNvPr>
          <p:cNvSpPr txBox="1"/>
          <p:nvPr/>
        </p:nvSpPr>
        <p:spPr>
          <a:xfrm>
            <a:off x="550356" y="2667210"/>
            <a:ext cx="2154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Pontos </a:t>
            </a:r>
            <a:r>
              <a:rPr lang="en-US" b="1" u="sng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Positivos</a:t>
            </a:r>
            <a:endParaRPr lang="en-US" b="1" u="sng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6B432-9F96-33BD-5076-62D826F6DE49}"/>
              </a:ext>
            </a:extLst>
          </p:cNvPr>
          <p:cNvSpPr txBox="1"/>
          <p:nvPr/>
        </p:nvSpPr>
        <p:spPr>
          <a:xfrm>
            <a:off x="6709961" y="266720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Pontos </a:t>
            </a:r>
            <a:r>
              <a:rPr lang="en-US" b="1" u="sng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Negativos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763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3932C1-E393-9103-8A6B-727C5D88CAE5}"/>
              </a:ext>
            </a:extLst>
          </p:cNvPr>
          <p:cNvSpPr txBox="1"/>
          <p:nvPr/>
        </p:nvSpPr>
        <p:spPr>
          <a:xfrm>
            <a:off x="546022" y="322078"/>
            <a:ext cx="17689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Arquitetura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A81EA-2BA2-6079-5CE8-352F2051E705}"/>
              </a:ext>
            </a:extLst>
          </p:cNvPr>
          <p:cNvSpPr txBox="1"/>
          <p:nvPr/>
        </p:nvSpPr>
        <p:spPr>
          <a:xfrm>
            <a:off x="548121" y="923458"/>
            <a:ext cx="1096122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A arquitetura do sistema foi planejada para ser simples, prática e levando em conta os recursos disponíveis no </a:t>
            </a:r>
            <a:r>
              <a:rPr lang="pt-BR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OpenEdge</a:t>
            </a:r>
            <a:r>
              <a:rPr lang="pt-BR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pt-BR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Progress</a:t>
            </a:r>
            <a:r>
              <a:rPr lang="pt-BR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4GL. O objetivo foi manter uma estrutura organizada e eficiente, com integração direta entre interface, lógica de negócio e banco de dados. 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ea typeface="+mn-lt"/>
              <a:cs typeface="+mn-lt"/>
            </a:endParaRPr>
          </a:p>
        </p:txBody>
      </p:sp>
      <p:pic>
        <p:nvPicPr>
          <p:cNvPr id="9" name="Picture 8" descr="A diagram of a process&#10;&#10;AI-generated content may be incorrect.">
            <a:extLst>
              <a:ext uri="{FF2B5EF4-FFF2-40B4-BE49-F238E27FC236}">
                <a16:creationId xmlns:a16="http://schemas.microsoft.com/office/drawing/2014/main" id="{D9ED87F3-D508-8780-2848-C991524A3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225" y="2141316"/>
            <a:ext cx="3103195" cy="436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0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7F99BF-AFE7-F7DF-D005-8A1C08D0C685}"/>
              </a:ext>
            </a:extLst>
          </p:cNvPr>
          <p:cNvSpPr txBox="1"/>
          <p:nvPr/>
        </p:nvSpPr>
        <p:spPr>
          <a:xfrm>
            <a:off x="546022" y="322078"/>
            <a:ext cx="40839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Funcionalidades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 </a:t>
            </a:r>
            <a:r>
              <a:rPr lang="en-US" sz="2000" b="1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Desenvolvidas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7B6F3-F347-2E65-D1F1-ED0E1C6725A0}"/>
              </a:ext>
            </a:extLst>
          </p:cNvPr>
          <p:cNvSpPr txBox="1"/>
          <p:nvPr/>
        </p:nvSpPr>
        <p:spPr>
          <a:xfrm>
            <a:off x="543506" y="1024108"/>
            <a:ext cx="4354008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Cadastro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e </a:t>
            </a: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Manutenção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de Conta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Wingdings"/>
              <a:buChar char="q"/>
            </a:pP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Cadastro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e </a:t>
            </a: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Manutenção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de </a:t>
            </a: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Produto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ea typeface="+mn-lt"/>
              <a:cs typeface="+mn-lt"/>
            </a:endParaRPr>
          </a:p>
          <a:p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q"/>
            </a:pP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Cadastro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e </a:t>
            </a: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Manutenção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de </a:t>
            </a: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Categoria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ea typeface="+mn-lt"/>
              <a:cs typeface="+mn-lt"/>
            </a:endParaRPr>
          </a:p>
          <a:p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q"/>
            </a:pP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Cadastro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e </a:t>
            </a: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Manutenção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de </a:t>
            </a: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Desconto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ea typeface="+mn-lt"/>
              <a:cs typeface="+mn-lt"/>
            </a:endParaRPr>
          </a:p>
          <a:p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Visualizar Estoque</a:t>
            </a:r>
          </a:p>
          <a:p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Registrar </a:t>
            </a: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Compra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ea typeface="+mn-lt"/>
              <a:cs typeface="+mn-lt"/>
            </a:endParaRPr>
          </a:p>
          <a:p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Registrar </a:t>
            </a: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venda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</a:t>
            </a:r>
          </a:p>
          <a:p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q"/>
            </a:pP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Alertas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 do Sistema para o </a:t>
            </a: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Usuário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ea typeface="+mn-lt"/>
              <a:cs typeface="+mn-lt"/>
            </a:endParaRPr>
          </a:p>
          <a:p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Wingdings"/>
              <a:buChar char="q"/>
            </a:pPr>
            <a:r>
              <a:rPr lang="en-US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ea typeface="+mn-lt"/>
                <a:cs typeface="+mn-lt"/>
              </a:rPr>
              <a:t>Relatórios</a:t>
            </a:r>
            <a:endParaRPr lang="en-US" err="1">
              <a:solidFill>
                <a:schemeClr val="tx1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A11BD683-0438-60EB-6268-195833E55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740" y="523210"/>
            <a:ext cx="4791076" cy="5647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6BFABA-15F5-14C0-A5B9-674B717D3DF0}"/>
              </a:ext>
            </a:extLst>
          </p:cNvPr>
          <p:cNvSpPr txBox="1"/>
          <p:nvPr/>
        </p:nvSpPr>
        <p:spPr>
          <a:xfrm>
            <a:off x="7485241" y="6258996"/>
            <a:ext cx="352449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u="sng" err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Diagrama</a:t>
            </a:r>
            <a:r>
              <a:rPr lang="en-US" sz="1400" b="1" u="sng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 de Casos de Uso do Sistema</a:t>
            </a:r>
          </a:p>
        </p:txBody>
      </p:sp>
    </p:spTree>
    <p:extLst>
      <p:ext uri="{BB962C8B-B14F-4D97-AF65-F5344CB8AC3E}">
        <p14:creationId xmlns:p14="http://schemas.microsoft.com/office/powerpoint/2010/main" val="1018899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2856A6-4F1A-B742-E06E-64B94DB23B14}"/>
              </a:ext>
            </a:extLst>
          </p:cNvPr>
          <p:cNvSpPr txBox="1"/>
          <p:nvPr/>
        </p:nvSpPr>
        <p:spPr>
          <a:xfrm>
            <a:off x="4156820" y="2642466"/>
            <a:ext cx="388137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b="1">
                <a:solidFill>
                  <a:schemeClr val="tx1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0063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580203-D04D-74B4-E002-71CD8432ACF2}"/>
              </a:ext>
            </a:extLst>
          </p:cNvPr>
          <p:cNvSpPr txBox="1"/>
          <p:nvPr/>
        </p:nvSpPr>
        <p:spPr>
          <a:xfrm>
            <a:off x="1142791" y="567831"/>
            <a:ext cx="218375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Conclusão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36AC0F-B967-DCE6-8C78-97C25496D1C9}"/>
              </a:ext>
            </a:extLst>
          </p:cNvPr>
          <p:cNvSpPr txBox="1"/>
          <p:nvPr/>
        </p:nvSpPr>
        <p:spPr>
          <a:xfrm>
            <a:off x="1140135" y="1352756"/>
            <a:ext cx="9900210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O projeto desenvolveu um sistema simples e funcional de gestão de estoque e vendas, pensado para pequenos varejistas que precisam de organização sem lidar com soluções complexas. 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r>
              <a:rPr lang="pt-BR" sz="24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 escolha do </a:t>
            </a:r>
            <a:r>
              <a:rPr lang="pt-BR" sz="240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OpenEdge</a:t>
            </a:r>
            <a:r>
              <a:rPr lang="pt-BR" sz="24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pt-BR" sz="240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Progress</a:t>
            </a:r>
            <a:r>
              <a:rPr lang="pt-BR" sz="24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4GL trouxe mais rapidez e praticidade ao desenvolvimento, mesmo com pouco tempo e poucos recursos. 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r>
              <a:rPr lang="pt-BR" sz="24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Um dos maiores desafios foi gerar dados de teste para validar o sistema, mas o resultado final mostrou estabilidade, eficiência e alinhamento com os objetivos do trabalho. 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r>
              <a:rPr lang="pt-BR" sz="24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O sistema cumpre o que foi proposto e ainda abre caminho para melhorias futuras, como integração com PDV, envio automático de alertas e relatórios mais avançados.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2458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41</cp:revision>
  <dcterms:created xsi:type="dcterms:W3CDTF">2025-12-08T00:52:56Z</dcterms:created>
  <dcterms:modified xsi:type="dcterms:W3CDTF">2025-12-10T18:59:46Z</dcterms:modified>
</cp:coreProperties>
</file>